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PT Mono" panose="02060509020205020204" pitchFamily="49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2B329-D716-4A2A-996B-E2558EE3F209}" v="1254" dt="2026-03-27T13:38:51.080"/>
    <p1510:client id="{72270F2B-ED92-4A9A-85EE-6B298D485CC5}" v="1" dt="2026-03-27T09:24:20.546"/>
    <p1510:client id="{D582D182-3E50-4301-8EB9-6E6F81B72441}" v="4" dt="2026-03-27T12:28:50.970"/>
    <p1510:client id="{F573C708-8113-8D8E-D1CD-635C4CC7748C}" v="56" dt="2026-03-27T14:10:26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.png"/><Relationship Id="rId21" Type="http://schemas.openxmlformats.org/officeDocument/2006/relationships/image" Target="../media/image3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2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7.png"/><Relationship Id="rId5" Type="http://schemas.openxmlformats.org/officeDocument/2006/relationships/image" Target="../media/image33.png"/><Relationship Id="rId15" Type="http://schemas.openxmlformats.org/officeDocument/2006/relationships/image" Target="../media/image41.png"/><Relationship Id="rId10" Type="http://schemas.openxmlformats.org/officeDocument/2006/relationships/image" Target="../media/image19.png"/><Relationship Id="rId19" Type="http://schemas.openxmlformats.org/officeDocument/2006/relationships/image" Target="../media/image25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1429" y="-480786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971675" y="21907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endParaRPr lang="en-US" sz="5000">
              <a:solidFill>
                <a:srgbClr val="FFFFFF"/>
              </a:solidFill>
              <a:latin typeface="PT Mono"/>
              <a:ea typeface="Calibri"/>
              <a:cs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630714" y="2190750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en-US" sz="3750">
                <a:solidFill>
                  <a:srgbClr val="FFFFFF"/>
                </a:solidFill>
                <a:latin typeface="PT Mono"/>
                <a:ea typeface="Calibri"/>
                <a:cs typeface="Calibri"/>
              </a:rPr>
              <a:t>АЗБЕСТ</a:t>
            </a: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66191" y="-4101251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8;p11" descr="preencoded.png">
            <a:extLst>
              <a:ext uri="{FF2B5EF4-FFF2-40B4-BE49-F238E27FC236}">
                <a16:creationId xmlns:a16="http://schemas.microsoft.com/office/drawing/2014/main" id="{5EA71715-A5F7-7AD8-8BB3-8B5D8372AF9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113408" y="3746254"/>
            <a:ext cx="2324100" cy="153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" descr="A green circle with black background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268DE-FEFB-EDC5-559E-E9A105272E95}"/>
              </a:ext>
            </a:extLst>
          </p:cNvPr>
          <p:cNvSpPr txBox="1"/>
          <p:nvPr/>
        </p:nvSpPr>
        <p:spPr>
          <a:xfrm rot="-10800000" flipV="1">
            <a:off x="1141277" y="1495064"/>
            <a:ext cx="577661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Проблемът</a:t>
            </a:r>
            <a:r>
              <a:rPr lang="en-US">
                <a:solidFill>
                  <a:schemeClr val="bg1"/>
                </a:solidFill>
              </a:rPr>
              <a:t>:Селата могат да представляват истински райски кътчета, които обаче остават незабелязани поради липсата на ефективна популяризация. В резултат на това тези ценни природни и културни пространства постепенно губят своя потенциал и значение.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9B3433-1F33-8F84-2901-973C25EE3337}"/>
              </a:ext>
            </a:extLst>
          </p:cNvPr>
          <p:cNvSpPr txBox="1"/>
          <p:nvPr/>
        </p:nvSpPr>
        <p:spPr>
          <a:xfrm flipV="1">
            <a:off x="1146597" y="2448785"/>
            <a:ext cx="577255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Решението</a:t>
            </a:r>
            <a:r>
              <a:rPr lang="en-US">
                <a:solidFill>
                  <a:schemeClr val="bg1"/>
                </a:solidFill>
              </a:rPr>
              <a:t>: </a:t>
            </a:r>
            <a:r>
              <a:rPr lang="en-US" err="1">
                <a:solidFill>
                  <a:schemeClr val="bg1"/>
                </a:solidFill>
              </a:rPr>
              <a:t>Разработването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уебсайт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който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популяризира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тези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уникални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кътчета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подпомага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тяхното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развитие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като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предоставя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възможност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директна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резервация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престой.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880462" y="1223966"/>
            <a:ext cx="4868047" cy="2696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40625"/>
              </a:lnSpc>
              <a:buClr>
                <a:srgbClr val="FFFFFF"/>
              </a:buClr>
              <a:buSzPts val="2400"/>
            </a:pPr>
            <a:r>
              <a:rPr lang="en-US" sz="12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Предложеното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решение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представлява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разработването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уебсайт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,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който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включва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внимателно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подбрани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дестинации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,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разположени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в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западащи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,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слабо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познати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или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недостатъчно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оценени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като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туристически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привлекателни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населени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места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.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Основната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цел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е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чрез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устойчив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туризъм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да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се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популяризират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тези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села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,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като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генерираните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приходи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се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насочват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към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тяхното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развитие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и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подобряване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условията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живот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.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този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начин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се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създават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предпоставки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за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привличане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нови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жители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и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дългосрочно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възраждане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на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местните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 </a:t>
            </a:r>
            <a:r>
              <a:rPr lang="en-US" sz="1200" err="1">
                <a:solidFill>
                  <a:srgbClr val="FFFFFF"/>
                </a:solidFill>
                <a:ea typeface="PT Mono"/>
                <a:sym typeface="PT Mono"/>
              </a:rPr>
              <a:t>общности</a:t>
            </a:r>
            <a:r>
              <a:rPr lang="en-US" sz="1200">
                <a:solidFill>
                  <a:srgbClr val="FFFFFF"/>
                </a:solidFill>
                <a:ea typeface="PT Mono"/>
                <a:sym typeface="PT Mono"/>
              </a:rPr>
              <a:t>.</a:t>
            </a:r>
            <a:endParaRPr lang="en-US" sz="1200">
              <a:solidFill>
                <a:srgbClr val="FFFFFF"/>
              </a:solidFill>
              <a:latin typeface="Calibri"/>
              <a:ea typeface="Calibri"/>
              <a:cs typeface="Calibri"/>
              <a:sym typeface="PT Mono"/>
            </a:endParaRPr>
          </a:p>
          <a:p>
            <a:pPr>
              <a:lnSpc>
                <a:spcPct val="140625"/>
              </a:lnSpc>
              <a:buSzPts val="2400"/>
            </a:pPr>
            <a:endParaRPr lang="en-US" sz="1200">
              <a:solidFill>
                <a:srgbClr val="FFFFFF"/>
              </a:solidFill>
              <a:latin typeface="PT Mono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29" y="-54429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Вашето решение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 descr="A black and gold circle with a do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43CFDE-8B28-04F5-DE2C-E1EF7C356E52}"/>
              </a:ext>
            </a:extLst>
          </p:cNvPr>
          <p:cNvSpPr txBox="1"/>
          <p:nvPr/>
        </p:nvSpPr>
        <p:spPr>
          <a:xfrm>
            <a:off x="1751568" y="1327713"/>
            <a:ext cx="6451504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Нашето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решение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произтича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пряко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от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поставената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цел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популяризиране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възраждане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слабо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познатите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западащи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села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чрез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туризъм</a:t>
            </a:r>
            <a:r>
              <a:rPr lang="en-US">
                <a:solidFill>
                  <a:schemeClr val="bg1"/>
                </a:solidFill>
              </a:rPr>
              <a:t>. В </a:t>
            </a:r>
            <a:r>
              <a:rPr lang="en-US" err="1">
                <a:solidFill>
                  <a:schemeClr val="bg1"/>
                </a:solidFill>
              </a:rPr>
              <a:t>тази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връзка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предвижда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създаването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уебсайт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който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обединява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внимателно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подбрани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дестинации</a:t>
            </a:r>
            <a:r>
              <a:rPr lang="en-US">
                <a:solidFill>
                  <a:schemeClr val="bg1"/>
                </a:solidFill>
              </a:rPr>
              <a:t> с </a:t>
            </a:r>
            <a:r>
              <a:rPr lang="en-US" err="1">
                <a:solidFill>
                  <a:schemeClr val="bg1"/>
                </a:solidFill>
              </a:rPr>
              <a:t>висок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потенциал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ограничена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разпознаваемост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Платформата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ще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предоставя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възможност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лесно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откриване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тези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места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директно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резервиране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престой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 err="1">
                <a:solidFill>
                  <a:schemeClr val="bg1"/>
                </a:solidFill>
              </a:rPr>
              <a:t>Чрез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насочване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туристическия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интерес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към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подобни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локации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създава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устойчив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поток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от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приходи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като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част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от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тях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реинвестират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развитието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местната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инфраструктура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услуги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общност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По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този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начин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сайтът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само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изпълнява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функцията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посредник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но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се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превръща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инструмент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дългосрочно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икономическо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социално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възраждане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създавайки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условия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привличане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нови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жители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повишаване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качеството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живот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тези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райони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A green circle with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DBB85E-9B9F-764F-2E38-A467A7174C3C}"/>
              </a:ext>
            </a:extLst>
          </p:cNvPr>
          <p:cNvSpPr txBox="1"/>
          <p:nvPr/>
        </p:nvSpPr>
        <p:spPr>
          <a:xfrm>
            <a:off x="1130957" y="1175218"/>
            <a:ext cx="687770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Проектът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функционира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като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дигитална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платформа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която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свързва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потребителите</a:t>
            </a:r>
            <a:r>
              <a:rPr lang="en-US">
                <a:solidFill>
                  <a:schemeClr val="bg1"/>
                </a:solidFill>
              </a:rPr>
              <a:t> с </a:t>
            </a:r>
            <a:r>
              <a:rPr lang="en-US" err="1">
                <a:solidFill>
                  <a:schemeClr val="bg1"/>
                </a:solidFill>
              </a:rPr>
              <a:t>внимателно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подбрани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дестинации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слабо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познати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развиващи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селски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райони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Всяка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локация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включена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сайта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преминава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през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процес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селекция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основан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критерии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като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автентичност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природна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културна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стойност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както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потенциал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развитие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устойчив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туризъм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 err="1">
                <a:solidFill>
                  <a:schemeClr val="bg1"/>
                </a:solidFill>
              </a:rPr>
              <a:t>Потребителите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имат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възможност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разглеждат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подробно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представени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дестинации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включително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информация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настаняване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местни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забележителности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дейности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района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Чрез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интегрирана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система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резервации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могат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директно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планират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своето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посещение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 err="1">
                <a:solidFill>
                  <a:schemeClr val="bg1"/>
                </a:solidFill>
              </a:rPr>
              <a:t>Платформата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работи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сътрудничество</a:t>
            </a:r>
            <a:r>
              <a:rPr lang="en-US">
                <a:solidFill>
                  <a:schemeClr val="bg1"/>
                </a:solidFill>
              </a:rPr>
              <a:t> с </a:t>
            </a:r>
            <a:r>
              <a:rPr lang="en-US" err="1">
                <a:solidFill>
                  <a:schemeClr val="bg1"/>
                </a:solidFill>
              </a:rPr>
              <a:t>местни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домакини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общности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като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подпомага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тяхната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видимост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достъп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по-широка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аудитория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Част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от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приходите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генерирани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чрез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резервации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се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реинвестират</a:t>
            </a:r>
            <a:r>
              <a:rPr lang="en-US">
                <a:solidFill>
                  <a:schemeClr val="bg1"/>
                </a:solidFill>
              </a:rPr>
              <a:t> в </a:t>
            </a:r>
            <a:r>
              <a:rPr lang="en-US" err="1">
                <a:solidFill>
                  <a:schemeClr val="bg1"/>
                </a:solidFill>
              </a:rPr>
              <a:t>развитието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съответните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населени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места</a:t>
            </a:r>
            <a:r>
              <a:rPr lang="en-US">
                <a:solidFill>
                  <a:schemeClr val="bg1"/>
                </a:solidFill>
              </a:rPr>
              <a:t> – </a:t>
            </a:r>
            <a:r>
              <a:rPr lang="en-US" err="1">
                <a:solidFill>
                  <a:schemeClr val="bg1"/>
                </a:solidFill>
              </a:rPr>
              <a:t>подобряване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инфраструктурата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подкрепа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местния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бизнес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насърчаване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устойчиви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инициативи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 err="1">
                <a:solidFill>
                  <a:schemeClr val="bg1"/>
                </a:solidFill>
              </a:rPr>
              <a:t>По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този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начин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проектът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създава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затворен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цикъл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при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който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туризмът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само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популяризира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дадено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място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но</a:t>
            </a:r>
            <a:r>
              <a:rPr lang="en-US">
                <a:solidFill>
                  <a:schemeClr val="bg1"/>
                </a:solidFill>
              </a:rPr>
              <a:t> и </a:t>
            </a:r>
            <a:r>
              <a:rPr lang="en-US" err="1">
                <a:solidFill>
                  <a:schemeClr val="bg1"/>
                </a:solidFill>
              </a:rPr>
              <a:t>активно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допринася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за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неговото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дългосрочно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развитие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pPr algn="l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Google Shape;137;p11" descr="preencoded.png">
            <a:extLst>
              <a:ext uri="{FF2B5EF4-FFF2-40B4-BE49-F238E27FC236}">
                <a16:creationId xmlns:a16="http://schemas.microsoft.com/office/drawing/2014/main" id="{9C210F11-863F-FE8E-F35C-BDE2FDB8744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8664" y="2140591"/>
            <a:ext cx="1589791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6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descr="A green circle with lines and dot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lang="en-US" sz="52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05FA5-A5C2-774A-7C2D-DFDC1793E9F8}"/>
              </a:ext>
            </a:extLst>
          </p:cNvPr>
          <p:cNvSpPr txBox="1"/>
          <p:nvPr/>
        </p:nvSpPr>
        <p:spPr>
          <a:xfrm>
            <a:off x="1318641" y="1289863"/>
            <a:ext cx="632591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</a:rPr>
              <a:t>-HTML</a:t>
            </a:r>
          </a:p>
          <a:p>
            <a:r>
              <a:rPr lang="en-US" sz="1800">
                <a:solidFill>
                  <a:schemeClr val="bg1"/>
                </a:solidFill>
              </a:rPr>
              <a:t>-CSS</a:t>
            </a:r>
          </a:p>
          <a:p>
            <a:r>
              <a:rPr lang="en-US" sz="1800">
                <a:solidFill>
                  <a:schemeClr val="bg1"/>
                </a:solidFill>
              </a:rPr>
              <a:t>-</a:t>
            </a:r>
            <a:r>
              <a:rPr lang="en-US" sz="1800" err="1">
                <a:solidFill>
                  <a:schemeClr val="bg1"/>
                </a:solidFill>
              </a:rPr>
              <a:t>JavaScr</a:t>
            </a:r>
            <a:r>
              <a:rPr lang="en-US" sz="1800">
                <a:solidFill>
                  <a:schemeClr val="bg1"/>
                </a:solidFill>
              </a:rPr>
              <a:t>ipt</a:t>
            </a:r>
          </a:p>
          <a:p>
            <a:r>
              <a:rPr lang="en-US" sz="1800">
                <a:solidFill>
                  <a:schemeClr val="bg1"/>
                </a:solidFill>
              </a:rPr>
              <a:t>-Python(Django Backend)</a:t>
            </a:r>
          </a:p>
        </p:txBody>
      </p:sp>
      <p:pic>
        <p:nvPicPr>
          <p:cNvPr id="4" name="Google Shape;146;p11" descr="preencoded.png">
            <a:extLst>
              <a:ext uri="{FF2B5EF4-FFF2-40B4-BE49-F238E27FC236}">
                <a16:creationId xmlns:a16="http://schemas.microsoft.com/office/drawing/2014/main" id="{08A91025-E314-D730-CD2D-799017B531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6743861" y="1142643"/>
            <a:ext cx="1452561" cy="210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 l="-48491" t="-2874" r="48491" b="-575"/>
          <a:stretch>
            <a:fillRect/>
          </a:stretch>
        </p:blipFill>
        <p:spPr>
          <a:xfrm>
            <a:off x="-9084880" y="-4069"/>
            <a:ext cx="18179628" cy="5005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3385" y="2725792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 descr="A green circle with a black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471FD6-0EDD-7D6D-7F7C-1237BA1D6BC7}"/>
              </a:ext>
            </a:extLst>
          </p:cNvPr>
          <p:cNvSpPr txBox="1"/>
          <p:nvPr/>
        </p:nvSpPr>
        <p:spPr>
          <a:xfrm>
            <a:off x="3404288" y="1213068"/>
            <a:ext cx="15513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Направа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на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код</a:t>
            </a:r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8AA48AC6-F485-6E4A-DB99-8CF5C01B8A6F}"/>
              </a:ext>
            </a:extLst>
          </p:cNvPr>
          <p:cNvSpPr/>
          <p:nvPr/>
        </p:nvSpPr>
        <p:spPr>
          <a:xfrm rot="2520000">
            <a:off x="2369120" y="844126"/>
            <a:ext cx="620141" cy="177049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B48EE-4668-1D3A-BDE0-7BD2460C1F41}"/>
              </a:ext>
            </a:extLst>
          </p:cNvPr>
          <p:cNvSpPr txBox="1"/>
          <p:nvPr/>
        </p:nvSpPr>
        <p:spPr>
          <a:xfrm>
            <a:off x="2285062" y="2572844"/>
            <a:ext cx="152728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Защо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не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работи</a:t>
            </a: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DCBDD151-3B41-0CAD-DDEA-753151826937}"/>
              </a:ext>
            </a:extLst>
          </p:cNvPr>
          <p:cNvSpPr/>
          <p:nvPr/>
        </p:nvSpPr>
        <p:spPr>
          <a:xfrm>
            <a:off x="3051604" y="2896052"/>
            <a:ext cx="1998684" cy="60027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037098-7501-2541-6103-718A90F5466E}"/>
              </a:ext>
            </a:extLst>
          </p:cNvPr>
          <p:cNvSpPr txBox="1"/>
          <p:nvPr/>
        </p:nvSpPr>
        <p:spPr>
          <a:xfrm>
            <a:off x="4571999" y="2591457"/>
            <a:ext cx="14386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Защо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работи</a:t>
            </a: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E17699C6-D84B-58FA-1C2C-2B3608C599B6}"/>
              </a:ext>
            </a:extLst>
          </p:cNvPr>
          <p:cNvSpPr/>
          <p:nvPr/>
        </p:nvSpPr>
        <p:spPr>
          <a:xfrm rot="-1980000" flipV="1">
            <a:off x="5235298" y="946827"/>
            <a:ext cx="591207" cy="175391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8695" y="930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700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Вашето преживяване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312" y="2382860"/>
            <a:ext cx="6828743" cy="79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40625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Вашият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екип-Кристиан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(HTML,CSS),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Георги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(HTML,CSS,JS),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Божидар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( 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Наполовина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Python(Django)),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Александър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Другата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половина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Python(Django)+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Емоционална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Подкрепа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),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Калоян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-(HTML,CSS,JS)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40625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Вашият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ментор-Андон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Горчов-Помогна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всички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части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от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проекта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когато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знаехме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какво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правим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.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Той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също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е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много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 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лесен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човек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с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който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може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сe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говори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и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постоянно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ни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насърчава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.</a:t>
            </a:r>
            <a:endParaRPr lang="en-US" sz="1600" dirty="0">
              <a:solidFill>
                <a:srgbClr val="FFFFFF"/>
              </a:solidFill>
              <a:latin typeface="PT Mono"/>
              <a:ea typeface="Calibri"/>
              <a:cs typeface="Calibri"/>
            </a:endParaRPr>
          </a:p>
          <a:p>
            <a:pPr>
              <a:lnSpc>
                <a:spcPct val="140625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Какво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научихте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от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Хакатона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?-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Че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отбор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 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 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трябва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 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събира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защото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едва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едва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се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завършва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проекта</a:t>
            </a:r>
            <a:r>
              <a:rPr lang="en-US" sz="16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.</a:t>
            </a:r>
            <a:endParaRPr lang="en-US" sz="1600" dirty="0">
              <a:solidFill>
                <a:srgbClr val="FFFFFF"/>
              </a:solidFill>
              <a:latin typeface="PT Mono"/>
              <a:ea typeface="Calibri"/>
              <a:cs typeface="Calibri"/>
            </a:endParaRPr>
          </a:p>
        </p:txBody>
      </p:sp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010" y="802482"/>
            <a:ext cx="131445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76475" y="768706"/>
            <a:ext cx="1643063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744" y="2305050"/>
            <a:ext cx="1576388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0556" y="2897980"/>
            <a:ext cx="1619250" cy="144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66900" y="2195513"/>
            <a:ext cx="1647825" cy="133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39189" y="1435145"/>
            <a:ext cx="2052637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42807" y="1777734"/>
            <a:ext cx="1589791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97449" y="2648611"/>
            <a:ext cx="2324100" cy="153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07409" y="3838575"/>
            <a:ext cx="809625" cy="96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93644" y="566285"/>
            <a:ext cx="37719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24488" y="3462338"/>
            <a:ext cx="6381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43875" y="1047750"/>
            <a:ext cx="5810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656810" y="3417755"/>
            <a:ext cx="852488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919788" y="4300538"/>
            <a:ext cx="881063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1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60431" y="3284504"/>
            <a:ext cx="1804988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1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53575" y="961214"/>
            <a:ext cx="1023938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673659" y="2144646"/>
            <a:ext cx="13335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71538" y="276225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Добрита за използване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631411" y="4517493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revision>33</cp:revision>
  <dcterms:created xsi:type="dcterms:W3CDTF">2026-01-15T12:11:17Z</dcterms:created>
  <dcterms:modified xsi:type="dcterms:W3CDTF">2026-03-27T14:11:22Z</dcterms:modified>
</cp:coreProperties>
</file>